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99" r:id="rId3"/>
    <p:sldId id="300" r:id="rId4"/>
    <p:sldId id="297" r:id="rId5"/>
    <p:sldId id="264" r:id="rId6"/>
    <p:sldId id="284" r:id="rId7"/>
    <p:sldId id="268" r:id="rId8"/>
    <p:sldId id="266" r:id="rId9"/>
    <p:sldId id="267" r:id="rId10"/>
    <p:sldId id="263" r:id="rId11"/>
    <p:sldId id="274" r:id="rId12"/>
    <p:sldId id="280" r:id="rId13"/>
    <p:sldId id="291" r:id="rId14"/>
    <p:sldId id="292" r:id="rId15"/>
    <p:sldId id="293" r:id="rId16"/>
    <p:sldId id="289" r:id="rId17"/>
    <p:sldId id="290" r:id="rId18"/>
    <p:sldId id="281" r:id="rId19"/>
    <p:sldId id="288" r:id="rId20"/>
    <p:sldId id="294" r:id="rId21"/>
    <p:sldId id="295" r:id="rId22"/>
    <p:sldId id="276" r:id="rId23"/>
    <p:sldId id="286" r:id="rId24"/>
    <p:sldId id="298" r:id="rId25"/>
    <p:sldId id="307" r:id="rId26"/>
    <p:sldId id="257" r:id="rId27"/>
    <p:sldId id="308" r:id="rId28"/>
    <p:sldId id="306" r:id="rId29"/>
    <p:sldId id="305" r:id="rId30"/>
    <p:sldId id="258" r:id="rId31"/>
    <p:sldId id="301" r:id="rId32"/>
    <p:sldId id="303" r:id="rId33"/>
    <p:sldId id="309" r:id="rId34"/>
    <p:sldId id="302" r:id="rId3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7"/>
    <p:restoredTop sz="94705"/>
  </p:normalViewPr>
  <p:slideViewPr>
    <p:cSldViewPr snapToGrid="0" snapToObjects="1">
      <p:cViewPr varScale="1">
        <p:scale>
          <a:sx n="108" d="100"/>
          <a:sy n="108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C54E7-C073-3243-A21B-06FA9AF3C2DF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BAC74-F27E-4247-9638-7D287082541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6491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63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42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C44A8B-35D4-8743-B80B-6A63B41D6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0CFA018-DAD3-1642-B32F-97E7E66EA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408D60-9D8A-E748-B191-2841B4B7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82C33C-F41D-634D-8696-2E2FA317D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1A45DD-A866-B14F-A651-F2EB4CF9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25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EE6D7-0474-794F-AC4A-D926C03B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1956DA-2744-CD43-9E5F-50CED229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9D72FC-542C-854A-A389-81FB1DF1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F13750-B063-FE42-A622-1DDD9B45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BBBBF1-507F-EB4D-8437-EE8E218E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263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062AD-7F6A-0D40-8D54-292EB66D8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FCE5EC-4407-A148-BA0A-FCD38FF3C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F7D161-3D2A-DC49-A5E4-609FC089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9144BC-173A-084A-B80B-65CEC3CF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8F6F3C-48D5-FB49-8120-5A4F11AB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787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4E14A1-47FD-4E41-BBD5-CB7D7452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36C499-3F07-1E48-829C-BAABFDA5D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BA4379-DCD6-024E-9278-3CBF2345C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DA2926A-EC50-EB42-A541-6C030BBB3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268F37-A1CD-494C-A879-F5F85F05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5E268D-C681-0A45-99D6-D89234AE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339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B36D07-59DE-1244-8901-1C7ADF1D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5A0910-828D-784E-8AEF-D5A70ABA0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A29F1D3-0D49-B540-B98F-1674C9BF3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CFA51BD-4B72-444A-8836-F0AD6291D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8A2A1A2-06C1-AC46-A675-92DF45FAE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8042242-639C-B549-A841-D240462CC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934654C-9CBC-DC46-B365-5DCE65B8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193510F-1BD5-F246-BFAC-5F3F6ACB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8720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FF3025-F6B0-B74F-8903-F64E07FFF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AD9691B-B98D-FF47-8A3A-733F61586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65B6D35-1F63-D243-8067-CEAAC56E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C8E0877-6152-604A-A874-50C521E7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169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8944FD0-84A5-6B4C-8505-4FF0F70B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573AC41-DFA1-5245-908C-5B9053A5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50B089-1F03-A742-ABD3-4741A119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48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C5B3C9-D00D-A04B-8C71-8B2CB9A5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CE03B8-3854-6D49-8AE8-D424D2E18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5BA42F-5042-7740-8C84-A90C8F5A3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7DF79E-EA44-9E4B-9FC7-56ECECF2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EF4141-F2CB-C847-9BCB-5AAA99BD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686AC4-7AC7-2F42-A66C-864BBCB1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6636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3C8A1A-F405-8F4D-8161-23C2176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82BC402-6989-C04D-8E84-67C48B3EF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C5EB36-848F-E44C-BFCA-73F58FC58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0D395C-F4F4-EE4C-9DA6-F4A7909E1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880082-4A18-E443-8F16-0E73ECE8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FB7D6F-F1D4-224D-B7BA-76B5F480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326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E499BD-BB85-194A-B712-7C4AE504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701FAE-B349-DA49-BA4E-DB293AB61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E12479-2947-BD42-8115-190533259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771697-1FF9-9D41-A8B1-B0A28138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5E82C8-6E5B-6D44-84F1-ECA26820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1254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C0F94C-E765-6747-9337-CBF90CC46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E44EF2-E8C1-084C-BF5C-66A82FF55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AAE0F7-C5E6-6E4C-BC62-BDA8D118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338A46-DE8F-3B44-93E5-052CCA74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77C0C4-07C6-EF48-AB48-51FE53C1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4822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31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6FAD8EC-29DB-B649-9AE3-654F72A2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B98A5B-5ED1-F54F-A470-52007965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7A5D2A-894A-E44C-BF95-4A476A4E6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BA0DE-74FA-B04C-81CB-3481DFBEE1DD}" type="datetimeFigureOut">
              <a:rPr kumimoji="1" lang="zh-TW" altLang="en-US" smtClean="0"/>
              <a:t>2026/5/1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4D789-214E-8A42-A108-1EF34C163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02E64B-6374-A04B-9C0B-2DFC9E47A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87EE6-A7E4-6A42-BB9A-DCF56E19A5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697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3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F16F09-CA2C-0C4A-869F-3743A6E4A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 dirty="0"/>
              <a:t>淺談古代中國星座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072A871-4CD4-8A4D-BAA6-97488D69C4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zh-TW" dirty="0"/>
          </a:p>
          <a:p>
            <a:r>
              <a:rPr kumimoji="1" lang="zh-TW" altLang="en-US" dirty="0"/>
              <a:t>師大國文所博士班一年級</a:t>
            </a:r>
            <a:endParaRPr kumimoji="1" lang="en-US" altLang="zh-TW" dirty="0"/>
          </a:p>
          <a:p>
            <a:r>
              <a:rPr kumimoji="1" lang="zh-CN" altLang="en-US" dirty="0"/>
              <a:t>簡誌寬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195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77BFE1D-DE23-024A-80FD-9E51833862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864" b="-4262"/>
          <a:stretch/>
        </p:blipFill>
        <p:spPr bwMode="auto">
          <a:xfrm>
            <a:off x="0" y="-96981"/>
            <a:ext cx="12192000" cy="695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62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F560019-0D1C-8C40-A764-EE4FEE9A54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51" t="577" r="7201" b="11686"/>
          <a:stretch/>
        </p:blipFill>
        <p:spPr bwMode="auto">
          <a:xfrm>
            <a:off x="0" y="0"/>
            <a:ext cx="12192000" cy="631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06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9472E25-EB5D-A547-9CA9-010EE1BE617C}"/>
              </a:ext>
            </a:extLst>
          </p:cNvPr>
          <p:cNvSpPr txBox="1"/>
          <p:nvPr/>
        </p:nvSpPr>
        <p:spPr>
          <a:xfrm>
            <a:off x="1758043" y="2081543"/>
            <a:ext cx="597279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青龍：角 亢 房 氐 心 尾 箕</a:t>
            </a:r>
            <a:endParaRPr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玄武：斗 牛 女 虛 危 室 壁</a:t>
            </a:r>
            <a:endParaRPr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白虎：奎 婁 胃 昴 畢 參 觜</a:t>
            </a:r>
            <a:endParaRPr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朱雀：井 鬼 柳 星 張 翼 軫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20695594-F0B1-8349-AEDC-20E1E273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00" y="426780"/>
            <a:ext cx="6344392" cy="998260"/>
          </a:xfrm>
        </p:spPr>
        <p:txBody>
          <a:bodyPr>
            <a:noAutofit/>
          </a:bodyPr>
          <a:lstStyle/>
          <a:p>
            <a:r>
              <a:rPr kumimoji="1" lang="zh-TW" altLang="en-US" sz="4800" dirty="0"/>
              <a:t>中國的星空分區</a:t>
            </a:r>
          </a:p>
        </p:txBody>
      </p:sp>
    </p:spTree>
    <p:extLst>
      <p:ext uri="{BB962C8B-B14F-4D97-AF65-F5344CB8AC3E}">
        <p14:creationId xmlns:p14="http://schemas.microsoft.com/office/powerpoint/2010/main" val="2956279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70A38A-F3DC-AC47-BA56-1E872A136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63" y="676162"/>
            <a:ext cx="4553197" cy="998260"/>
          </a:xfrm>
        </p:spPr>
        <p:txBody>
          <a:bodyPr>
            <a:noAutofit/>
          </a:bodyPr>
          <a:lstStyle/>
          <a:p>
            <a:r>
              <a:rPr kumimoji="1" lang="zh-TW" altLang="en-US" sz="4800" dirty="0"/>
              <a:t>在開始之前：</a:t>
            </a:r>
            <a:br>
              <a:rPr kumimoji="1" lang="en-US" altLang="zh-TW" sz="4800" dirty="0"/>
            </a:br>
            <a:endParaRPr kumimoji="1" lang="zh-TW" altLang="en-US" sz="4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F4F5C52-ADD9-1D48-8B9B-30BACE731FFA}"/>
              </a:ext>
            </a:extLst>
          </p:cNvPr>
          <p:cNvSpPr txBox="1"/>
          <p:nvPr/>
        </p:nvSpPr>
        <p:spPr>
          <a:xfrm>
            <a:off x="1411679" y="1762888"/>
            <a:ext cx="91573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1</a:t>
            </a:r>
            <a:r>
              <a:rPr kumimoji="1"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、為什麼要研究天文？</a:t>
            </a:r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kumimoji="1" lang="en-US" altLang="zh-TW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2</a:t>
            </a:r>
            <a:r>
              <a:rPr kumimoji="1"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、古中國到底有幾個星座？</a:t>
            </a:r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kumimoji="1"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        延伸：織女星在三垣二十八宿的哪裡？</a:t>
            </a:r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kumimoji="1" lang="en-US" altLang="zh-TW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3</a:t>
            </a:r>
            <a:r>
              <a:rPr kumimoji="1"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、古中國的天文學家為何把星空分區？</a:t>
            </a:r>
            <a:endParaRPr lang="zh-TW" altLang="en-US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584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5AB43A-6501-9147-8152-B838ABB17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觀象授時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9F5D7E-23D0-9841-A0E2-1073B91B2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767" y="613484"/>
            <a:ext cx="6043262" cy="5971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756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>
            <a:extLst>
              <a:ext uri="{FF2B5EF4-FFF2-40B4-BE49-F238E27FC236}">
                <a16:creationId xmlns:a16="http://schemas.microsoft.com/office/drawing/2014/main" id="{DCA9D41C-D3D7-D147-87E9-1FCF57940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zh-TW" altLang="en-US" sz="80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青龍</a:t>
            </a:r>
          </a:p>
        </p:txBody>
      </p:sp>
    </p:spTree>
    <p:extLst>
      <p:ext uri="{BB962C8B-B14F-4D97-AF65-F5344CB8AC3E}">
        <p14:creationId xmlns:p14="http://schemas.microsoft.com/office/powerpoint/2010/main" val="1697342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172B14-1658-EF4E-AC2F-1D59DA90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3" y="107218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我認為最原始的星座：青龍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19574B-8239-114B-96C8-A42AD48D7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23641" y="1340624"/>
            <a:ext cx="8344717" cy="5410158"/>
          </a:xfrm>
        </p:spPr>
      </p:pic>
    </p:spTree>
    <p:extLst>
      <p:ext uri="{BB962C8B-B14F-4D97-AF65-F5344CB8AC3E}">
        <p14:creationId xmlns:p14="http://schemas.microsoft.com/office/powerpoint/2010/main" val="219294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1016D717-1C5F-FA4B-BD28-DBBD9BC9F5A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sz="5400" dirty="0"/>
              <a:t>東方蒼龍</a:t>
            </a:r>
            <a:r>
              <a:rPr kumimoji="1" lang="en-US" altLang="zh-TW" sz="5400" dirty="0"/>
              <a:t>—</a:t>
            </a:r>
            <a:r>
              <a:rPr kumimoji="1" lang="zh-TW" altLang="en-US" sz="5400" dirty="0"/>
              <a:t>東夷民族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FF76ECD-CED6-0148-BD85-7BBA383FB3E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139545" cy="405266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600" b="1" dirty="0"/>
              <a:t>《</a:t>
            </a:r>
            <a:r>
              <a:rPr kumimoji="1" lang="zh-TW" altLang="en-US" sz="3600" b="1" dirty="0"/>
              <a:t>左傳・昭公十七年</a:t>
            </a:r>
            <a:r>
              <a:rPr kumimoji="1" lang="en-US" altLang="zh-TW" sz="3600" b="1" dirty="0"/>
              <a:t>》</a:t>
            </a:r>
            <a:r>
              <a:rPr kumimoji="1" lang="zh-TW" altLang="en-US" sz="3600" b="1" dirty="0"/>
              <a:t>：</a:t>
            </a:r>
            <a:endParaRPr kumimoji="1" lang="en-US" altLang="zh-TW" sz="3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TW" sz="3600" b="1" dirty="0"/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TW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	</a:t>
            </a: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太昊以龍紀，故以龍為官。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kumimoji="1" lang="en-US" altLang="zh-TW" sz="3600" b="1" dirty="0"/>
              <a:t>《</a:t>
            </a:r>
            <a:r>
              <a:rPr kumimoji="1" lang="zh-TW" altLang="en-US" sz="3600" b="1" dirty="0"/>
              <a:t>說文解字</a:t>
            </a:r>
            <a:r>
              <a:rPr kumimoji="1" lang="en-US" altLang="zh-TW" sz="3600" b="1" dirty="0"/>
              <a:t>》</a:t>
            </a:r>
            <a:r>
              <a:rPr kumimoji="1" lang="zh-TW" altLang="en-US" sz="3600" b="1" dirty="0"/>
              <a:t>：</a:t>
            </a:r>
            <a:endParaRPr kumimoji="1" lang="en-US" altLang="zh-TW" sz="3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TW" sz="3600" b="1" dirty="0"/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TW" sz="3600" b="1" dirty="0"/>
              <a:t>	</a:t>
            </a: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龍，春分而登天，秋分而潛淵</a:t>
            </a:r>
            <a:endParaRPr kumimoji="1" lang="en-US" altLang="zh-TW" sz="36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F6A0827-DB91-5C40-91A8-34764E336772}"/>
              </a:ext>
            </a:extLst>
          </p:cNvPr>
          <p:cNvSpPr txBox="1"/>
          <p:nvPr/>
        </p:nvSpPr>
        <p:spPr>
          <a:xfrm>
            <a:off x="7184573" y="2265012"/>
            <a:ext cx="4381994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sz="3200" dirty="0">
                <a:latin typeface="Kaiti TC" panose="02010600040101010101" pitchFamily="2" charset="-120"/>
                <a:ea typeface="Kaiti TC" panose="02010600040101010101" pitchFamily="2" charset="-120"/>
              </a:rPr>
              <a:t>太昊</a:t>
            </a:r>
            <a:r>
              <a:rPr kumimoji="1" lang="en-US" altLang="zh-TW" sz="3200" dirty="0">
                <a:latin typeface="Kaiti TC" panose="02010600040101010101" pitchFamily="2" charset="-120"/>
                <a:ea typeface="Kaiti TC" panose="02010600040101010101" pitchFamily="2" charset="-120"/>
              </a:rPr>
              <a:t>—</a:t>
            </a:r>
            <a:r>
              <a:rPr kumimoji="1" lang="zh-TW" altLang="en-US" sz="3200" dirty="0">
                <a:latin typeface="Kaiti TC" panose="02010600040101010101" pitchFamily="2" charset="-120"/>
                <a:ea typeface="Kaiti TC" panose="02010600040101010101" pitchFamily="2" charset="-120"/>
              </a:rPr>
              <a:t>少昊</a:t>
            </a:r>
            <a:r>
              <a:rPr kumimoji="1" lang="en-US" altLang="zh-TW" sz="3200" dirty="0">
                <a:latin typeface="Kaiti TC" panose="02010600040101010101" pitchFamily="2" charset="-120"/>
                <a:ea typeface="Kaiti TC" panose="02010600040101010101" pitchFamily="2" charset="-120"/>
              </a:rPr>
              <a:t>—</a:t>
            </a:r>
            <a:r>
              <a:rPr kumimoji="1" lang="zh-TW" altLang="en-US" sz="3200" dirty="0">
                <a:latin typeface="Kaiti TC" panose="02010600040101010101" pitchFamily="2" charset="-120"/>
                <a:ea typeface="Kaiti TC" panose="02010600040101010101" pitchFamily="2" charset="-120"/>
              </a:rPr>
              <a:t>舜</a:t>
            </a:r>
            <a:r>
              <a:rPr kumimoji="1" lang="en-US" altLang="zh-TW" sz="3200" dirty="0">
                <a:latin typeface="Kaiti TC" panose="02010600040101010101" pitchFamily="2" charset="-120"/>
                <a:ea typeface="Kaiti TC" panose="02010600040101010101" pitchFamily="2" charset="-120"/>
              </a:rPr>
              <a:t>—</a:t>
            </a:r>
            <a:r>
              <a:rPr kumimoji="1" lang="zh-TW" altLang="en-US" sz="3200" dirty="0">
                <a:latin typeface="Kaiti TC" panose="02010600040101010101" pitchFamily="2" charset="-120"/>
                <a:ea typeface="Kaiti TC" panose="02010600040101010101" pitchFamily="2" charset="-120"/>
              </a:rPr>
              <a:t>商湯</a:t>
            </a:r>
            <a:endParaRPr kumimoji="1"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103678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8273526-C652-114E-8920-912550EC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4EF6DD1-27BE-0B4F-9EDB-91B7A2D28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773" y="666244"/>
            <a:ext cx="4002454" cy="552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10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0D9966-A9BB-1141-9C94-B4DF0421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b="1" dirty="0"/>
              <a:t>題外話：</a:t>
            </a:r>
            <a:r>
              <a:rPr kumimoji="1" lang="en-US" altLang="zh-TW" b="1" dirty="0"/>
              <a:t>《</a:t>
            </a:r>
            <a:r>
              <a:rPr kumimoji="1" lang="zh-TW" altLang="en-US" b="1" dirty="0"/>
              <a:t>易經</a:t>
            </a:r>
            <a:r>
              <a:rPr kumimoji="1" lang="en-US" altLang="zh-TW" b="1" dirty="0"/>
              <a:t>》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CE403F-7B5C-B040-8A10-6BE366D19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初九，潛龍勿用。</a:t>
            </a:r>
            <a:endParaRPr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九二，見龍在田，利見大人。</a:t>
            </a:r>
            <a:endParaRPr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九三，君子終日乾乾，夕惕若，厲无咎。</a:t>
            </a:r>
            <a:endParaRPr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九四，或躍在淵，无咎。</a:t>
            </a:r>
            <a:endParaRPr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九五，飛龍在天，利見大人。</a:t>
            </a:r>
            <a:endParaRPr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上九，亢龍有悔。</a:t>
            </a:r>
            <a:endParaRPr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用九，見群龍无首，吉。</a:t>
            </a:r>
          </a:p>
        </p:txBody>
      </p:sp>
    </p:spTree>
    <p:extLst>
      <p:ext uri="{BB962C8B-B14F-4D97-AF65-F5344CB8AC3E}">
        <p14:creationId xmlns:p14="http://schemas.microsoft.com/office/powerpoint/2010/main" val="236225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l="10000" r="-10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6277A5-0121-7F4C-B8E8-541CD4BA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zh-TW" altLang="en-US" sz="80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玄武</a:t>
            </a:r>
          </a:p>
        </p:txBody>
      </p:sp>
    </p:spTree>
    <p:extLst>
      <p:ext uri="{BB962C8B-B14F-4D97-AF65-F5344CB8AC3E}">
        <p14:creationId xmlns:p14="http://schemas.microsoft.com/office/powerpoint/2010/main" val="2664303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l="10000" r="-10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D19DEA77-536B-D94A-8C4D-341948E39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sz="5400" dirty="0"/>
              <a:t>北方玄武</a:t>
            </a:r>
            <a:r>
              <a:rPr kumimoji="1" lang="en-US" altLang="zh-TW" sz="5400" dirty="0"/>
              <a:t>—</a:t>
            </a:r>
            <a:r>
              <a:rPr kumimoji="1" lang="zh-TW" altLang="en-US" sz="5400" dirty="0"/>
              <a:t>夏越民族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EB77F4A3-9A8F-E040-BC8A-448BB71C59F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849592" cy="4667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600" b="1" dirty="0"/>
              <a:t>《</a:t>
            </a:r>
            <a:r>
              <a:rPr kumimoji="1" lang="zh-TW" altLang="en-US" sz="3600" b="1" dirty="0"/>
              <a:t>尚書・洪範</a:t>
            </a:r>
            <a:r>
              <a:rPr kumimoji="1" lang="en-US" altLang="zh-TW" sz="3600" b="1" dirty="0"/>
              <a:t>》</a:t>
            </a:r>
            <a:r>
              <a:rPr kumimoji="1" lang="zh-TW" altLang="en-US" sz="3600" b="1" dirty="0"/>
              <a:t>：</a:t>
            </a:r>
            <a:endParaRPr kumimoji="1" lang="en-US" altLang="zh-TW" sz="3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TW" sz="3600" b="1" dirty="0"/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TW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	</a:t>
            </a: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天與禹洛出書，神龜負文而出，列於背。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kumimoji="1" lang="zh-TW" altLang="en-US" sz="3600" b="1" dirty="0"/>
              <a:t> 鯀</a:t>
            </a:r>
            <a:r>
              <a:rPr kumimoji="1" lang="en-US" altLang="zh-TW" sz="3600" b="1" dirty="0"/>
              <a:t>—</a:t>
            </a:r>
            <a:r>
              <a:rPr kumimoji="1" lang="zh-TW" altLang="en-US" sz="3600" b="1" dirty="0"/>
              <a:t>禹</a:t>
            </a:r>
            <a:endParaRPr kumimoji="1" lang="en-US" altLang="zh-TW" sz="3600" b="1" dirty="0"/>
          </a:p>
          <a:p>
            <a:endParaRPr kumimoji="1" lang="en-US" altLang="zh-TW" sz="3600" b="1" dirty="0"/>
          </a:p>
          <a:p>
            <a:r>
              <a:rPr kumimoji="1" lang="zh-TW" altLang="en-US" sz="3600" b="1" dirty="0"/>
              <a:t> 夏人自稱「樓人」。</a:t>
            </a:r>
            <a:endParaRPr kumimoji="1" lang="en-US" altLang="zh-TW" sz="3600" b="1" dirty="0"/>
          </a:p>
        </p:txBody>
      </p:sp>
    </p:spTree>
    <p:extLst>
      <p:ext uri="{BB962C8B-B14F-4D97-AF65-F5344CB8AC3E}">
        <p14:creationId xmlns:p14="http://schemas.microsoft.com/office/powerpoint/2010/main" val="2699091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36000" b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609FF549-0B7D-594D-A33B-2F20D4AA3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zh-TW" altLang="en-US" sz="80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麒麟</a:t>
            </a:r>
          </a:p>
        </p:txBody>
      </p:sp>
    </p:spTree>
    <p:extLst>
      <p:ext uri="{BB962C8B-B14F-4D97-AF65-F5344CB8AC3E}">
        <p14:creationId xmlns:p14="http://schemas.microsoft.com/office/powerpoint/2010/main" val="1455347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36000" b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C4AA2C56-975A-0049-83B1-E45A92D08D3F}"/>
              </a:ext>
            </a:extLst>
          </p:cNvPr>
          <p:cNvSpPr txBox="1">
            <a:spLocks/>
          </p:cNvSpPr>
          <p:nvPr/>
        </p:nvSpPr>
        <p:spPr>
          <a:xfrm>
            <a:off x="602673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sz="5400" dirty="0"/>
              <a:t>北方神鹿</a:t>
            </a:r>
            <a:r>
              <a:rPr kumimoji="1" lang="en-US" altLang="zh-TW" sz="5400" dirty="0"/>
              <a:t>—</a:t>
            </a:r>
            <a:r>
              <a:rPr kumimoji="1" lang="zh-TW" altLang="en-US" sz="5400" dirty="0"/>
              <a:t>東胡民族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13C17C-8499-AB4F-8A0C-9EE9F9A333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92" t="48530" r="143" b="14527"/>
          <a:stretch/>
        </p:blipFill>
        <p:spPr bwMode="auto">
          <a:xfrm>
            <a:off x="6370898" y="3671019"/>
            <a:ext cx="5821102" cy="3062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5FDFE8C-2C23-5149-AF61-15F42839A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6382" r="40960"/>
          <a:stretch/>
        </p:blipFill>
        <p:spPr bwMode="auto">
          <a:xfrm>
            <a:off x="-360219" y="1690688"/>
            <a:ext cx="6705599" cy="5274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284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1000"/>
            <a:lum/>
          </a:blip>
          <a:srcRect/>
          <a:stretch>
            <a:fillRect t="-4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5DF3B04D-194A-F849-A75A-7B9C0F57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zh-TW" altLang="en-US" sz="72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白虎</a:t>
            </a:r>
          </a:p>
        </p:txBody>
      </p:sp>
    </p:spTree>
    <p:extLst>
      <p:ext uri="{BB962C8B-B14F-4D97-AF65-F5344CB8AC3E}">
        <p14:creationId xmlns:p14="http://schemas.microsoft.com/office/powerpoint/2010/main" val="2523813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b="-3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87BF1405-0FC7-E743-98C7-4BAD7FAC694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sz="5400" dirty="0"/>
              <a:t>西方白虎</a:t>
            </a:r>
            <a:r>
              <a:rPr kumimoji="1" lang="en-US" altLang="zh-TW" sz="5400" dirty="0"/>
              <a:t>—</a:t>
            </a:r>
            <a:r>
              <a:rPr kumimoji="1" lang="zh-TW" altLang="en-US" sz="5400" dirty="0"/>
              <a:t>西羌民族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B4FE4FE7-F774-6247-BBF5-7A8B0C32CB2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754590" cy="48245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TW" altLang="en-US" sz="3600" b="1" dirty="0"/>
              <a:t> 「姬」、「羌」為西羌大姓</a:t>
            </a:r>
            <a:endParaRPr kumimoji="1" lang="en-US" altLang="zh-TW" sz="3600" b="1" dirty="0"/>
          </a:p>
          <a:p>
            <a:endParaRPr kumimoji="1" lang="en-US" altLang="zh-TW" sz="3600" b="1" dirty="0"/>
          </a:p>
          <a:p>
            <a:r>
              <a:rPr kumimoji="1" lang="zh-TW" altLang="en-US" sz="3600" b="1" dirty="0"/>
              <a:t> 參宿為主星</a:t>
            </a:r>
            <a:endParaRPr kumimoji="1" lang="en-US" altLang="zh-TW" sz="3600" b="1" dirty="0"/>
          </a:p>
          <a:p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1EE2D1C-ACFC-F944-9560-C0097B55F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660" y="2195314"/>
            <a:ext cx="3159393" cy="408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834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F9FCA8-F72F-9847-89A0-132F4F3A0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zh-TW" altLang="en-US" sz="72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朱雀</a:t>
            </a:r>
          </a:p>
        </p:txBody>
      </p:sp>
    </p:spTree>
    <p:extLst>
      <p:ext uri="{BB962C8B-B14F-4D97-AF65-F5344CB8AC3E}">
        <p14:creationId xmlns:p14="http://schemas.microsoft.com/office/powerpoint/2010/main" val="1906931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458AAD-4CC0-8F49-9B42-801D28987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5400" dirty="0"/>
              <a:t>南方朱雀：帝舜後裔、南蠻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E5B045-A8D8-024E-95AE-C076B7D5B8D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9754590" cy="48245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TW" altLang="en-US" sz="3600" b="1" dirty="0"/>
              <a:t> 東夷分支：人夷、郁夷、鳥夷</a:t>
            </a:r>
            <a:endParaRPr kumimoji="1" lang="en-US" altLang="zh-TW" sz="3600" b="1" dirty="0"/>
          </a:p>
          <a:p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kumimoji="1" lang="en-US" altLang="zh-TW" sz="3600" b="1" dirty="0">
                <a:latin typeface="+mn-ea"/>
              </a:rPr>
              <a:t>《</a:t>
            </a:r>
            <a:r>
              <a:rPr kumimoji="1" lang="zh-TW" altLang="en-US" sz="3600" b="1" dirty="0">
                <a:latin typeface="+mn-ea"/>
              </a:rPr>
              <a:t>史記・殷本紀</a:t>
            </a:r>
            <a:r>
              <a:rPr kumimoji="1" lang="en-US" altLang="zh-TW" sz="3600" b="1" dirty="0">
                <a:latin typeface="+mn-ea"/>
              </a:rPr>
              <a:t>》</a:t>
            </a:r>
            <a:r>
              <a:rPr kumimoji="1" lang="zh-TW" altLang="en-US" sz="3600" b="1" dirty="0">
                <a:latin typeface="+mn-ea"/>
              </a:rPr>
              <a:t>：</a:t>
            </a:r>
            <a:endParaRPr kumimoji="1" lang="en-US" altLang="zh-TW" sz="3600" b="1" dirty="0">
              <a:latin typeface="+mn-ea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r>
              <a:rPr kumimoji="1" lang="zh-TW" altLang="en-US" sz="32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殷契母曰簡狄，</a:t>
            </a:r>
            <a:r>
              <a:rPr kumimoji="1" lang="en-US" altLang="zh-TW" sz="32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…</a:t>
            </a:r>
            <a:r>
              <a:rPr kumimoji="1" lang="zh-TW" altLang="en-US" sz="32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，三人行浴，見玄燕墮其卵，簡狄撿吞之，因孕生契。</a:t>
            </a: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0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kumimoji="1" lang="zh-TW" altLang="en-US" sz="3600" b="1" dirty="0">
                <a:latin typeface="+mj-ea"/>
                <a:ea typeface="+mj-ea"/>
              </a:rPr>
              <a:t>鶉火，柳宿為主星</a:t>
            </a:r>
            <a:endParaRPr kumimoji="1" lang="en-US" altLang="zh-TW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3382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b="-9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DFFDF238-3A3D-6A47-BF61-8263B67D7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zh-TW" altLang="en-US" sz="72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倮獸</a:t>
            </a:r>
          </a:p>
        </p:txBody>
      </p:sp>
    </p:spTree>
    <p:extLst>
      <p:ext uri="{BB962C8B-B14F-4D97-AF65-F5344CB8AC3E}">
        <p14:creationId xmlns:p14="http://schemas.microsoft.com/office/powerpoint/2010/main" val="285143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b="-9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ECE970C1-C7A7-BA46-958E-CA268F3EC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207818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TW" altLang="en-US" sz="5400" dirty="0"/>
              <a:t>中央倮獸：中土、人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5983149-35AB-384B-8228-F38A622A6C94}"/>
              </a:ext>
            </a:extLst>
          </p:cNvPr>
          <p:cNvSpPr txBox="1">
            <a:spLocks/>
          </p:cNvSpPr>
          <p:nvPr/>
        </p:nvSpPr>
        <p:spPr>
          <a:xfrm>
            <a:off x="782781" y="1533381"/>
            <a:ext cx="9754590" cy="38421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600" b="1" dirty="0">
                <a:latin typeface="+mn-ea"/>
              </a:rPr>
              <a:t>《</a:t>
            </a:r>
            <a:r>
              <a:rPr kumimoji="1" lang="zh-TW" altLang="en-US" sz="3600" b="1" dirty="0">
                <a:latin typeface="+mn-ea"/>
              </a:rPr>
              <a:t>考工記</a:t>
            </a:r>
            <a:r>
              <a:rPr kumimoji="1" lang="en-US" altLang="zh-TW" sz="3600" b="1" dirty="0">
                <a:latin typeface="+mn-ea"/>
              </a:rPr>
              <a:t>》</a:t>
            </a:r>
            <a:r>
              <a:rPr kumimoji="1" lang="zh-TW" altLang="en-US" sz="3600" b="1" dirty="0">
                <a:latin typeface="+mn-ea"/>
              </a:rPr>
              <a:t>：</a:t>
            </a:r>
            <a:endParaRPr kumimoji="1" lang="en-US" altLang="zh-TW" sz="3600" b="1" dirty="0">
              <a:latin typeface="+mn-ea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r>
              <a:rPr kumimoji="1" lang="zh-TW" altLang="en-US" sz="32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弧旌枉矢，以象弧也。</a:t>
            </a: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kumimoji="1" lang="zh-TW" altLang="en-US" sz="3600" b="1" dirty="0">
                <a:latin typeface="+mj-ea"/>
                <a:ea typeface="+mj-ea"/>
              </a:rPr>
              <a:t>倮獸的主星：</a:t>
            </a:r>
            <a:endParaRPr kumimoji="1" lang="en-US" altLang="zh-TW" sz="3600" b="1" dirty="0">
              <a:latin typeface="+mj-ea"/>
              <a:ea typeface="+mj-ea"/>
            </a:endParaRPr>
          </a:p>
          <a:p>
            <a:pPr marL="914400" lvl="2" indent="0">
              <a:buNone/>
            </a:pPr>
            <a:endParaRPr kumimoji="1" lang="en-US" altLang="zh-TW" sz="2800" b="1" dirty="0">
              <a:latin typeface="+mj-ea"/>
              <a:ea typeface="+mj-ea"/>
            </a:endParaRPr>
          </a:p>
          <a:p>
            <a:pPr marL="914400" lvl="2" indent="0">
              <a:buNone/>
            </a:pPr>
            <a:r>
              <a:rPr kumimoji="1" lang="zh-TW" altLang="en-US" sz="2800" b="1" dirty="0">
                <a:latin typeface="+mj-ea"/>
                <a:ea typeface="+mj-ea"/>
              </a:rPr>
              <a:t>軒轅十七顆星？牛郎織女星？弧矢星？</a:t>
            </a:r>
            <a:endParaRPr kumimoji="1" lang="en-US" altLang="zh-TW" sz="2800" b="1" dirty="0">
              <a:latin typeface="+mj-ea"/>
              <a:ea typeface="+mj-ea"/>
            </a:endParaRPr>
          </a:p>
          <a:p>
            <a:pPr marL="914400" lvl="2" indent="0">
              <a:buNone/>
            </a:pPr>
            <a:endParaRPr kumimoji="1" lang="en-US" altLang="zh-TW" sz="2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428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A72304-EAD3-3146-A012-DE284A55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07950B6-1FDE-A34F-A049-32204DF35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323"/>
          <a:stretch/>
        </p:blipFill>
        <p:spPr>
          <a:xfrm>
            <a:off x="0" y="0"/>
            <a:ext cx="12346379" cy="6858000"/>
          </a:xfrm>
        </p:spPr>
      </p:pic>
    </p:spTree>
    <p:extLst>
      <p:ext uri="{BB962C8B-B14F-4D97-AF65-F5344CB8AC3E}">
        <p14:creationId xmlns:p14="http://schemas.microsoft.com/office/powerpoint/2010/main" val="2592802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66D658-87EC-9548-AE81-22760032F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281998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關於二十八宿幾個問題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1C23CD9-0C68-B842-8ACF-98FFD4A3E494}"/>
              </a:ext>
            </a:extLst>
          </p:cNvPr>
          <p:cNvSpPr txBox="1"/>
          <p:nvPr/>
        </p:nvSpPr>
        <p:spPr>
          <a:xfrm>
            <a:off x="1633353" y="2151727"/>
            <a:ext cx="91573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1</a:t>
            </a:r>
            <a:r>
              <a:rPr kumimoji="1"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、為什麼是</a:t>
            </a:r>
            <a:r>
              <a:rPr kumimoji="1" lang="en-US" altLang="zh-TW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28</a:t>
            </a:r>
            <a:r>
              <a:rPr kumimoji="1"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？</a:t>
            </a:r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r>
              <a:rPr kumimoji="1" lang="en-US" altLang="zh-TW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2</a:t>
            </a:r>
            <a:r>
              <a:rPr kumimoji="1"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、</a:t>
            </a:r>
            <a:r>
              <a:rPr kumimoji="1" lang="en-US" altLang="zh-TW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28</a:t>
            </a:r>
            <a:r>
              <a:rPr kumimoji="1"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宿起源於何？</a:t>
            </a:r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endParaRPr lang="zh-TW" altLang="en-US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4340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 t="-70000" b="-7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B8CFDA9A-4502-974C-836F-1E871C231494}"/>
              </a:ext>
            </a:extLst>
          </p:cNvPr>
          <p:cNvSpPr txBox="1">
            <a:spLocks/>
          </p:cNvSpPr>
          <p:nvPr/>
        </p:nvSpPr>
        <p:spPr>
          <a:xfrm>
            <a:off x="976745" y="23228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zh-TW" altLang="en-US" sz="72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春秋戰國論天三家</a:t>
            </a:r>
          </a:p>
        </p:txBody>
      </p:sp>
    </p:spTree>
    <p:extLst>
      <p:ext uri="{BB962C8B-B14F-4D97-AF65-F5344CB8AC3E}">
        <p14:creationId xmlns:p14="http://schemas.microsoft.com/office/powerpoint/2010/main" val="2602205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533FB0CA-33E7-6142-A214-A2285B849425}"/>
              </a:ext>
            </a:extLst>
          </p:cNvPr>
          <p:cNvSpPr txBox="1">
            <a:spLocks/>
          </p:cNvSpPr>
          <p:nvPr/>
        </p:nvSpPr>
        <p:spPr>
          <a:xfrm>
            <a:off x="375063" y="676162"/>
            <a:ext cx="4553197" cy="998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sz="4800" dirty="0"/>
              <a:t>在開始之前：</a:t>
            </a:r>
            <a:br>
              <a:rPr kumimoji="1" lang="en-US" altLang="zh-TW" sz="4800" dirty="0"/>
            </a:br>
            <a:endParaRPr kumimoji="1" lang="zh-TW" altLang="en-US" sz="4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6909E91-EBEA-CA44-A831-C2050330006B}"/>
              </a:ext>
            </a:extLst>
          </p:cNvPr>
          <p:cNvSpPr txBox="1"/>
          <p:nvPr/>
        </p:nvSpPr>
        <p:spPr>
          <a:xfrm>
            <a:off x="1517320" y="1970707"/>
            <a:ext cx="9157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1</a:t>
            </a:r>
            <a:r>
              <a:rPr kumimoji="1" lang="zh-TW" altLang="en-US" sz="3200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、為什麼天地理論分那麼多家？</a:t>
            </a:r>
            <a:endParaRPr kumimoji="1" lang="en-US" altLang="zh-TW" sz="3200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2473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 w="12700">
            <a:solidFill>
              <a:srgbClr val="1018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8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蓋天說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8992" y="8046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天如覆蓋，地如棋局；以圭表、日影與周天分度理解天象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440680" cy="0"/>
          </a:xfrm>
          <a:prstGeom prst="line">
            <a:avLst/>
          </a:prstGeom>
          <a:noFill/>
          <a:ln w="13970">
            <a:solidFill>
              <a:srgbClr val="D8B45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59" y="1600200"/>
            <a:ext cx="6620255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核心圖像：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天圓如傘蓋覆於地上，地較接近平面。
</a:t>
            </a:r>
            <a:r>
              <a:rPr lang="en-US" sz="28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代表文本：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《</a:t>
            </a:r>
            <a:r>
              <a:rPr lang="en-US" sz="2800" dirty="0" err="1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周髀算經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》
</a:t>
            </a:r>
            <a:r>
              <a:rPr lang="en-US" sz="28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技術重點：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以日影長短、冬夏日道遠近，建構「七衡六間」的日行模型。
</a:t>
            </a:r>
            <a:r>
              <a:rPr lang="en-US" sz="2800" b="1" dirty="0" err="1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思想特色：</a:t>
            </a:r>
            <a:r>
              <a:rPr lang="en-US" sz="2800" dirty="0" err="1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數學測量、勾股術相連，另外還有「蟻行石磨」之說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5166360"/>
            <a:ext cx="5696712" cy="1463040"/>
          </a:xfrm>
          <a:prstGeom prst="roundRect">
            <a:avLst>
              <a:gd name="adj" fmla="val 8000"/>
            </a:avLst>
          </a:prstGeom>
          <a:solidFill>
            <a:srgbClr val="1C2A40">
              <a:alpha val="95000"/>
            </a:srgbClr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59" y="5180076"/>
            <a:ext cx="5463541" cy="1286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講課提醒</a:t>
            </a:r>
            <a:r>
              <a:rPr lang="en-US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</a:t>
            </a:r>
          </a:p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1、蓋天說的重點不只是「天圓地方」，</a:t>
            </a:r>
            <a:r>
              <a:rPr lang="en-US" dirty="0" err="1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更是用地面量測去推天上路徑</a:t>
            </a:r>
            <a:r>
              <a:rPr lang="en-US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</a:p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</a:rPr>
              <a:t>2、已經有「地弧形說」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 rot="10800000">
            <a:off x="6903720" y="4572000"/>
            <a:ext cx="4160520" cy="640080"/>
          </a:xfrm>
          <a:prstGeom prst="chevron">
            <a:avLst/>
          </a:prstGeom>
          <a:solidFill>
            <a:srgbClr val="243247"/>
          </a:solidFill>
          <a:ln w="1524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4892040"/>
            <a:ext cx="4480560" cy="0"/>
          </a:xfrm>
          <a:prstGeom prst="line">
            <a:avLst/>
          </a:prstGeom>
          <a:noFill/>
          <a:ln w="27940">
            <a:solidFill>
              <a:srgbClr val="7DD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53218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DD3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地如棋局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57790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七衡六間：以圭表日影推算日道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78040" y="4645152"/>
            <a:ext cx="0" cy="438912"/>
          </a:xfrm>
          <a:prstGeom prst="line">
            <a:avLst/>
          </a:prstGeom>
          <a:noFill/>
          <a:ln w="6985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4645152"/>
            <a:ext cx="0" cy="438912"/>
          </a:xfrm>
          <a:prstGeom prst="line">
            <a:avLst/>
          </a:prstGeom>
          <a:noFill/>
          <a:ln w="6985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0" y="4645152"/>
            <a:ext cx="0" cy="438912"/>
          </a:xfrm>
          <a:prstGeom prst="line">
            <a:avLst/>
          </a:prstGeom>
          <a:noFill/>
          <a:ln w="6985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0" y="4645152"/>
            <a:ext cx="0" cy="438912"/>
          </a:xfrm>
          <a:prstGeom prst="line">
            <a:avLst/>
          </a:prstGeom>
          <a:noFill/>
          <a:ln w="6985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4645152"/>
            <a:ext cx="0" cy="438912"/>
          </a:xfrm>
          <a:prstGeom prst="line">
            <a:avLst/>
          </a:prstGeom>
          <a:noFill/>
          <a:ln w="6985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22592" y="4718304"/>
            <a:ext cx="3886200" cy="0"/>
          </a:xfrm>
          <a:prstGeom prst="line">
            <a:avLst/>
          </a:prstGeom>
          <a:noFill/>
          <a:ln w="6985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2592" y="4864608"/>
            <a:ext cx="3886200" cy="0"/>
          </a:xfrm>
          <a:prstGeom prst="line">
            <a:avLst/>
          </a:prstGeom>
          <a:noFill/>
          <a:ln w="6985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22592" y="5010912"/>
            <a:ext cx="3886200" cy="0"/>
          </a:xfrm>
          <a:prstGeom prst="line">
            <a:avLst/>
          </a:prstGeom>
          <a:noFill/>
          <a:ln w="6985">
            <a:solidFill>
              <a:srgbClr val="64748B">
                <a:alpha val="40000"/>
              </a:srgbClr>
            </a:solidFill>
            <a:prstDash val="solid"/>
          </a:ln>
        </p:spPr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2996F82-8182-B844-977F-52DA61C97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955" y="804672"/>
            <a:ext cx="3947609" cy="312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031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DD4EF365-CA84-A84D-A84D-EE474505A9EB}"/>
              </a:ext>
            </a:extLst>
          </p:cNvPr>
          <p:cNvSpPr txBox="1">
            <a:spLocks/>
          </p:cNvSpPr>
          <p:nvPr/>
        </p:nvSpPr>
        <p:spPr>
          <a:xfrm>
            <a:off x="802573" y="1674422"/>
            <a:ext cx="10538361" cy="48245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600" b="1" dirty="0">
                <a:latin typeface="+mn-ea"/>
              </a:rPr>
              <a:t>《</a:t>
            </a:r>
            <a:r>
              <a:rPr kumimoji="1" lang="zh-TW" altLang="en-US" sz="3600" b="1" dirty="0">
                <a:latin typeface="+mn-ea"/>
              </a:rPr>
              <a:t>晉書・天文志</a:t>
            </a:r>
            <a:r>
              <a:rPr kumimoji="1" lang="en-US" altLang="zh-TW" sz="3600" b="1" dirty="0">
                <a:latin typeface="+mn-ea"/>
              </a:rPr>
              <a:t>》</a:t>
            </a:r>
            <a:r>
              <a:rPr kumimoji="1" lang="zh-TW" altLang="en-US" sz="3600" b="1" dirty="0">
                <a:latin typeface="+mn-ea"/>
              </a:rPr>
              <a:t>：</a:t>
            </a:r>
            <a:endParaRPr kumimoji="1" lang="en-US" altLang="zh-TW" sz="3600" b="1" dirty="0">
              <a:latin typeface="+mn-ea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r>
              <a:rPr kumimoji="1" lang="zh-TW" altLang="en-US" sz="32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其言天似蓋笠，地法覆槃，天地各中高外下。北極之下為天地之中，其地最高，而滂沲四隤，三光隱映，以為晝夜。天中高於外衡冬至日之所在六萬里。北極下地高於外衡下地亦六萬里，外衡高於北極下地二萬里。天地隆高相從，日去地恒八萬里。日麗天而平轉，分冬夏之間日所行道為七衡六間。</a:t>
            </a: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0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5F6B25A7-3BDA-384E-81FE-8C9B0C4EF127}"/>
              </a:ext>
            </a:extLst>
          </p:cNvPr>
          <p:cNvSpPr txBox="1">
            <a:spLocks/>
          </p:cNvSpPr>
          <p:nvPr/>
        </p:nvSpPr>
        <p:spPr>
          <a:xfrm>
            <a:off x="375063" y="676162"/>
            <a:ext cx="4553197" cy="998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sz="4800" dirty="0"/>
              <a:t>蓋天說文獻：</a:t>
            </a:r>
            <a:br>
              <a:rPr kumimoji="1" lang="en-US" altLang="zh-TW" sz="4800" dirty="0"/>
            </a:br>
            <a:endParaRPr kumimoji="1"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883688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06357F7-1FB0-DB43-8931-401EC2B46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0"/>
            <a:ext cx="8686798" cy="688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031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 w="12700">
            <a:solidFill>
              <a:srgbClr val="1018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8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渾天說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8992" y="8046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天如球殼，地在其中；以「天球」解釋日月星辰周轉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440680" cy="0"/>
          </a:xfrm>
          <a:prstGeom prst="line">
            <a:avLst/>
          </a:prstGeom>
          <a:noFill/>
          <a:ln w="13970">
            <a:solidFill>
              <a:srgbClr val="D8B45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" y="1477172"/>
            <a:ext cx="6281928" cy="344978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核心圖像：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天體如圓球包覆大地，地居天中。
</a:t>
            </a:r>
            <a:r>
              <a:rPr lang="en-US" sz="28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觀測重點：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可容納赤道、黃道、二十八宿與日月五星運行。
</a:t>
            </a:r>
            <a:r>
              <a:rPr lang="en-US" sz="28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思想特色：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最適合和渾儀、曆法推算結合，後來成為主流宇宙圖式。
</a:t>
            </a:r>
            <a:r>
              <a:rPr lang="en-US" sz="2800" b="1" dirty="0" err="1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代表文本：</a:t>
            </a:r>
            <a:r>
              <a:rPr lang="en-US" sz="2800" dirty="0" err="1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張衡《靈憲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》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516636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1C2A40">
              <a:alpha val="95000"/>
            </a:srgbClr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40096"/>
            <a:ext cx="4434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講課提醒：渾天以天球模型整理肉眼所見的全天運動</a:t>
            </a:r>
            <a:r>
              <a:rPr lang="en-US" sz="20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46520" y="1234440"/>
            <a:ext cx="4937760" cy="4343400"/>
          </a:xfrm>
          <a:prstGeom prst="arc">
            <a:avLst/>
          </a:prstGeom>
          <a:solidFill>
            <a:srgbClr val="000000">
              <a:alpha val="0"/>
            </a:srgbClr>
          </a:solidFill>
          <a:ln w="25400">
            <a:solidFill>
              <a:srgbClr val="F1D89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11112" y="1481328"/>
            <a:ext cx="4617720" cy="3886200"/>
          </a:xfrm>
          <a:prstGeom prst="arc">
            <a:avLst/>
          </a:prstGeom>
          <a:solidFill>
            <a:srgbClr val="000000">
              <a:alpha val="0"/>
            </a:srgbClr>
          </a:solidFill>
          <a:ln w="15240">
            <a:solidFill>
              <a:srgbClr val="6EA8FE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417320"/>
            <a:ext cx="4251960" cy="4251960"/>
          </a:xfrm>
          <a:prstGeom prst="ellipse">
            <a:avLst/>
          </a:prstGeom>
          <a:solidFill>
            <a:srgbClr val="0F172A">
              <a:alpha val="0"/>
            </a:srgbClr>
          </a:solidFill>
          <a:ln w="25400">
            <a:solidFill>
              <a:srgbClr val="F1D8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2651760"/>
            <a:ext cx="3840480" cy="960120"/>
          </a:xfrm>
          <a:prstGeom prst="arc">
            <a:avLst/>
          </a:prstGeom>
          <a:solidFill>
            <a:srgbClr val="000000">
              <a:alpha val="0"/>
            </a:srgbClr>
          </a:solidFill>
          <a:ln w="26670">
            <a:solidFill>
              <a:srgbClr val="F6A9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3401568"/>
            <a:ext cx="3840480" cy="960120"/>
          </a:xfrm>
          <a:prstGeom prst="arc">
            <a:avLst/>
          </a:prstGeom>
          <a:solidFill>
            <a:srgbClr val="000000">
              <a:alpha val="0"/>
            </a:srgbClr>
          </a:solidFill>
          <a:ln w="26670">
            <a:solidFill>
              <a:srgbClr val="F6A96A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3429000"/>
            <a:ext cx="4069080" cy="0"/>
          </a:xfrm>
          <a:prstGeom prst="line">
            <a:avLst/>
          </a:prstGeom>
          <a:noFill/>
          <a:ln w="13970">
            <a:solidFill>
              <a:srgbClr val="6EA8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417320"/>
            <a:ext cx="0" cy="4251960"/>
          </a:xfrm>
          <a:prstGeom prst="line">
            <a:avLst/>
          </a:prstGeom>
          <a:noFill/>
          <a:ln w="12700">
            <a:solidFill>
              <a:srgbClr val="B99BFF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097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天球／渾天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3547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地在天中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3182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A8F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赤道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85832" y="2606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A9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黃道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1828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18120" y="16276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69880" y="19659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0" y="28346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43800" y="4892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2720" y="50749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12680" y="1600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37713" y="59847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D894"/>
                </a:solidFill>
                <a:latin typeface="Kaiti TC" panose="02010600040101010101" pitchFamily="2" charset="-120"/>
                <a:ea typeface="Kaiti TC" panose="02010600040101010101" pitchFamily="2" charset="-120"/>
                <a:cs typeface="Noto Serif CJK TC" pitchFamily="34" charset="-120"/>
              </a:rPr>
              <a:t>「天如雞子，地如中黃」</a:t>
            </a:r>
            <a:endParaRPr lang="en-US" sz="20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9390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 w="12700">
            <a:solidFill>
              <a:srgbClr val="1018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B4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宣夜說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8992" y="8046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取消堅硬天殼：日月星辰在無窮氣中各自運行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440680" cy="0"/>
          </a:xfrm>
          <a:prstGeom prst="line">
            <a:avLst/>
          </a:prstGeom>
          <a:noFill/>
          <a:ln w="13970">
            <a:solidFill>
              <a:srgbClr val="D8B45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" y="2054550"/>
            <a:ext cx="6144768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核心圖像：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天沒有固定形體，也不是包覆世界的硬殼。
</a:t>
            </a:r>
            <a:r>
              <a:rPr lang="en-US" sz="2800" b="1" dirty="0" err="1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運行理解：</a:t>
            </a:r>
            <a:r>
              <a:rPr lang="en-US" sz="2800" dirty="0" err="1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日、月、五星與眾星懸浮於氣中，各依其性質運動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
</a:t>
            </a:r>
            <a:r>
              <a:rPr lang="en-US" sz="28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歷史地位：</a:t>
            </a:r>
            <a:r>
              <a:rPr lang="en-US" sz="2800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不如渾天適合儀器化，但在宇宙論思想史上很重要。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5614119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1C2A40">
              <a:alpha val="95000"/>
            </a:srgbClr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7923" y="5796999"/>
            <a:ext cx="4434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講課提醒：宣夜說可作為「反天殼」傳統來講，特別適合連到後來氣化宇宙論。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554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148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83880" y="1417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0" y="2011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87000" y="1664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64240" y="2514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4526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4108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12680" y="4553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0" y="5074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5257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44200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2788920"/>
            <a:ext cx="658368" cy="658368"/>
          </a:xfrm>
          <a:prstGeom prst="ellipse">
            <a:avLst/>
          </a:prstGeom>
          <a:solidFill>
            <a:srgbClr val="F6A96A"/>
          </a:solidFill>
          <a:ln w="12700">
            <a:solidFill>
              <a:srgbClr val="F6A9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71816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555480" y="2606040"/>
            <a:ext cx="685800" cy="685800"/>
          </a:xfrm>
          <a:prstGeom prst="arc">
            <a:avLst/>
          </a:prstGeom>
          <a:solidFill>
            <a:srgbClr val="000000">
              <a:alpha val="0"/>
            </a:srgbClr>
          </a:solidFill>
          <a:ln w="38100">
            <a:solidFill>
              <a:srgbClr val="6EA8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56648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A8F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32320" y="3840480"/>
            <a:ext cx="310896" cy="310896"/>
          </a:xfrm>
          <a:prstGeom prst="ellipse">
            <a:avLst/>
          </a:prstGeom>
          <a:solidFill>
            <a:srgbClr val="B99BFF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13448" y="41788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49640" y="4160520"/>
            <a:ext cx="310896" cy="310896"/>
          </a:xfrm>
          <a:prstGeom prst="ellipse">
            <a:avLst/>
          </a:prstGeom>
          <a:solidFill>
            <a:srgbClr val="7DD3A8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0768" y="4498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歲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881360" y="4160520"/>
            <a:ext cx="310896" cy="310896"/>
          </a:xfrm>
          <a:prstGeom prst="ellipse">
            <a:avLst/>
          </a:prstGeom>
          <a:solidFill>
            <a:srgbClr val="F47C7C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62488" y="4498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46920" y="1234440"/>
            <a:ext cx="310896" cy="310896"/>
          </a:xfrm>
          <a:prstGeom prst="ellipse">
            <a:avLst/>
          </a:prstGeom>
          <a:solidFill>
            <a:srgbClr val="F1D894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28048" y="15727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95160" y="2560320"/>
            <a:ext cx="4251960" cy="1920240"/>
          </a:xfrm>
          <a:prstGeom prst="arc">
            <a:avLst/>
          </a:prstGeom>
          <a:solidFill>
            <a:srgbClr val="000000">
              <a:alpha val="0"/>
            </a:srgbClr>
          </a:solidFill>
          <a:ln w="16510">
            <a:solidFill>
              <a:srgbClr val="F1D894">
                <a:alpha val="8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1051560"/>
            <a:ext cx="4572000" cy="4297680"/>
          </a:xfrm>
          <a:prstGeom prst="arc">
            <a:avLst/>
          </a:prstGeom>
          <a:solidFill>
            <a:srgbClr val="000000">
              <a:alpha val="0"/>
            </a:srgbClr>
          </a:solidFill>
          <a:ln w="13970">
            <a:solidFill>
              <a:srgbClr val="6EA8FE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5715000"/>
            <a:ext cx="4937760" cy="0"/>
          </a:xfrm>
          <a:prstGeom prst="line">
            <a:avLst/>
          </a:prstGeom>
          <a:noFill/>
          <a:ln w="635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54864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D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無固定天殼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46520" y="5870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日月五星「浮游」於氣中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60732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 l="30000" t="-1000" r="30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CFC88E1-6B1A-D84C-8477-CF7849E4C410}"/>
              </a:ext>
            </a:extLst>
          </p:cNvPr>
          <p:cNvSpPr txBox="1">
            <a:spLocks/>
          </p:cNvSpPr>
          <p:nvPr/>
        </p:nvSpPr>
        <p:spPr>
          <a:xfrm>
            <a:off x="-1683328" y="2169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zh-TW" altLang="en-US" sz="72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漢：渾天說確立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3D6E33D-55FA-3740-9AF5-E82AD8DA51D5}"/>
              </a:ext>
            </a:extLst>
          </p:cNvPr>
          <p:cNvSpPr txBox="1">
            <a:spLocks/>
          </p:cNvSpPr>
          <p:nvPr/>
        </p:nvSpPr>
        <p:spPr>
          <a:xfrm>
            <a:off x="802573" y="1674422"/>
            <a:ext cx="10538361" cy="48245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20"/>
              </a:lnSpc>
            </a:pPr>
            <a:r>
              <a:rPr kumimoji="1" lang="en-US" altLang="zh-TW" sz="3600" b="1" dirty="0">
                <a:latin typeface="+mn-ea"/>
              </a:rPr>
              <a:t>《</a:t>
            </a:r>
            <a:r>
              <a:rPr kumimoji="1" lang="zh-TW" altLang="en-US" sz="3600" b="1" dirty="0">
                <a:latin typeface="+mn-ea"/>
              </a:rPr>
              <a:t>靈憲</a:t>
            </a:r>
            <a:r>
              <a:rPr kumimoji="1" lang="en-US" altLang="zh-TW" sz="3600" b="1" dirty="0">
                <a:latin typeface="+mn-ea"/>
              </a:rPr>
              <a:t>》</a:t>
            </a:r>
            <a:r>
              <a:rPr kumimoji="1" lang="zh-TW" altLang="en-US" sz="3600" b="1" dirty="0">
                <a:latin typeface="+mn-ea"/>
              </a:rPr>
              <a:t>：</a:t>
            </a:r>
            <a:endParaRPr kumimoji="1" lang="en-US" altLang="zh-TW" sz="3600" b="1" dirty="0">
              <a:latin typeface="+mn-ea"/>
            </a:endParaRPr>
          </a:p>
          <a:p>
            <a:pPr marL="457200" lvl="1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天體於陽，故圓以動，天以陽回。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陽道左回，故天運左行。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地體於陰，故平以靜，地以靈靜。</a:t>
            </a:r>
            <a:endParaRPr kumimoji="1" lang="en-US" altLang="zh-TW" sz="3600" b="1" dirty="0">
              <a:latin typeface="+mn-ea"/>
            </a:endParaRPr>
          </a:p>
          <a:p>
            <a:pPr>
              <a:lnSpc>
                <a:spcPts val="4320"/>
              </a:lnSpc>
            </a:pPr>
            <a:r>
              <a:rPr kumimoji="1" lang="en-US" altLang="zh-TW" sz="3600" b="1" dirty="0">
                <a:latin typeface="+mn-ea"/>
              </a:rPr>
              <a:t>《</a:t>
            </a:r>
            <a:r>
              <a:rPr kumimoji="1" lang="zh-TW" altLang="en-US" sz="3600" b="1" dirty="0">
                <a:latin typeface="+mn-ea"/>
              </a:rPr>
              <a:t>渾天儀注</a:t>
            </a:r>
            <a:r>
              <a:rPr kumimoji="1" lang="en-US" altLang="zh-TW" sz="3600" b="1" dirty="0">
                <a:latin typeface="+mn-ea"/>
              </a:rPr>
              <a:t>》</a:t>
            </a:r>
            <a:r>
              <a:rPr kumimoji="1" lang="zh-TW" altLang="en-US" sz="3600" b="1" dirty="0">
                <a:latin typeface="+mn-ea"/>
              </a:rPr>
              <a:t>：</a:t>
            </a:r>
            <a:endParaRPr kumimoji="1" lang="en-US" altLang="zh-TW" sz="3600" b="1" dirty="0">
              <a:latin typeface="+mn-ea"/>
            </a:endParaRPr>
          </a:p>
          <a:p>
            <a:pPr marL="457200" lvl="1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天表裡有水，天地各乘氣而立，載水而浮。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lvl="1"/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586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 l="30000" t="-1000" r="30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6FF5364-D386-984B-87BB-0948AB8CF5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78" b="10316"/>
          <a:stretch/>
        </p:blipFill>
        <p:spPr bwMode="auto">
          <a:xfrm>
            <a:off x="8778506" y="379629"/>
            <a:ext cx="2419924" cy="161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406DAF13-180B-9E44-BDAC-580BB2C86312}"/>
              </a:ext>
            </a:extLst>
          </p:cNvPr>
          <p:cNvSpPr txBox="1">
            <a:spLocks/>
          </p:cNvSpPr>
          <p:nvPr/>
        </p:nvSpPr>
        <p:spPr>
          <a:xfrm>
            <a:off x="-596901" y="221673"/>
            <a:ext cx="83057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zh-TW" altLang="en-US" sz="72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三國：孫吳天文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41D55BE-E466-0740-9D5D-9AEAE38653AB}"/>
              </a:ext>
            </a:extLst>
          </p:cNvPr>
          <p:cNvSpPr txBox="1">
            <a:spLocks/>
          </p:cNvSpPr>
          <p:nvPr/>
        </p:nvSpPr>
        <p:spPr>
          <a:xfrm>
            <a:off x="517565" y="1653814"/>
            <a:ext cx="10538361" cy="48245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20"/>
              </a:lnSpc>
            </a:pPr>
            <a:r>
              <a:rPr kumimoji="1" lang="en-US" altLang="zh-TW" sz="3600" b="1" dirty="0">
                <a:latin typeface="+mn-ea"/>
              </a:rPr>
              <a:t>《</a:t>
            </a:r>
            <a:r>
              <a:rPr kumimoji="1" lang="zh-TW" altLang="en-US" sz="3600" b="1" dirty="0">
                <a:latin typeface="+mn-ea"/>
              </a:rPr>
              <a:t>晉書・天文志</a:t>
            </a:r>
            <a:r>
              <a:rPr kumimoji="1" lang="en-US" altLang="zh-TW" sz="3600" b="1" dirty="0">
                <a:latin typeface="+mn-ea"/>
              </a:rPr>
              <a:t>》</a:t>
            </a:r>
            <a:r>
              <a:rPr kumimoji="1" lang="zh-TW" altLang="en-US" sz="3600" b="1" dirty="0">
                <a:latin typeface="+mn-ea"/>
              </a:rPr>
              <a:t>載姚信：</a:t>
            </a:r>
            <a:endParaRPr kumimoji="1" lang="en-US" altLang="zh-TW" sz="3600" b="1" dirty="0">
              <a:latin typeface="+mn-ea"/>
            </a:endParaRPr>
          </a:p>
          <a:p>
            <a:pPr marL="457200" lvl="1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人為靈蟲，形最似天。今人頤前侈臨胸，而項不能覆背。近取諸身，故知天之體南低入地，北則偏高。又冬至極低，而天運近南，故日去人遠，而斗去人近，北天氣至，故冰寒也。夏至極起，而天運近北，故斗去人遠，日去人近，南天氣至，故蒸熱也。極之高時，日行地中淺，故夜短；天去地高，故晝長也。極之低時，日行地中深，故夜長；天去地下，故晝短也。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lvl="1"/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2257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9B52AD37-58D8-0D44-ACCB-DAA3CFF98951}"/>
              </a:ext>
            </a:extLst>
          </p:cNvPr>
          <p:cNvSpPr txBox="1">
            <a:spLocks/>
          </p:cNvSpPr>
          <p:nvPr/>
        </p:nvSpPr>
        <p:spPr>
          <a:xfrm>
            <a:off x="0" y="186047"/>
            <a:ext cx="95833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zh-TW" altLang="en-US" sz="72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地有四游</a:t>
            </a:r>
            <a:r>
              <a:rPr kumimoji="1" lang="zh-TW" altLang="en-US" sz="54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（真天圓地方）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11C37F9-93C5-BA40-A80E-3BA9C4B3F8AB}"/>
              </a:ext>
            </a:extLst>
          </p:cNvPr>
          <p:cNvSpPr txBox="1">
            <a:spLocks/>
          </p:cNvSpPr>
          <p:nvPr/>
        </p:nvSpPr>
        <p:spPr>
          <a:xfrm>
            <a:off x="517565" y="1653814"/>
            <a:ext cx="10538361" cy="48245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20"/>
              </a:lnSpc>
            </a:pPr>
            <a:r>
              <a:rPr kumimoji="1" lang="en-US" altLang="zh-TW" sz="3600" b="1" dirty="0">
                <a:latin typeface="+mn-ea"/>
              </a:rPr>
              <a:t>《</a:t>
            </a:r>
            <a:r>
              <a:rPr kumimoji="1" lang="zh-TW" altLang="en-US" sz="3600" b="1" dirty="0">
                <a:latin typeface="+mn-ea"/>
              </a:rPr>
              <a:t>尚書・考靈曜</a:t>
            </a:r>
            <a:r>
              <a:rPr kumimoji="1" lang="en-US" altLang="zh-TW" sz="3600" b="1" dirty="0">
                <a:latin typeface="+mn-ea"/>
              </a:rPr>
              <a:t>》</a:t>
            </a:r>
            <a:r>
              <a:rPr kumimoji="1" lang="zh-TW" altLang="en-US" sz="3600" b="1" dirty="0">
                <a:latin typeface="+mn-ea"/>
              </a:rPr>
              <a:t>載：</a:t>
            </a:r>
            <a:endParaRPr kumimoji="1" lang="en-US" altLang="zh-TW" sz="3600" b="1" dirty="0">
              <a:latin typeface="+mn-ea"/>
            </a:endParaRPr>
          </a:p>
          <a:p>
            <a:pPr marL="457200" lvl="1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地有四游，冬至地上，北而西三萬里；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夏至地下，南而東復三萬里；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春秋二分其中矣。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地恆動不止，而人不知，譬如人在大舟中閉牖而坐，舟行而人不覺也。</a:t>
            </a: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lvl="1"/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94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DE2C408-0ED8-8C4E-993D-47147DD01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469" y="1556140"/>
            <a:ext cx="3429000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043C4D0F-8C14-174A-A73C-7ADF99D16E2F}"/>
              </a:ext>
            </a:extLst>
          </p:cNvPr>
          <p:cNvSpPr txBox="1">
            <a:spLocks/>
          </p:cNvSpPr>
          <p:nvPr/>
        </p:nvSpPr>
        <p:spPr>
          <a:xfrm>
            <a:off x="-834407" y="186045"/>
            <a:ext cx="83057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zh-TW" altLang="en-US" sz="7200" b="1" dirty="0">
                <a:latin typeface="Xingkai SC" panose="02010600040101010101" pitchFamily="2" charset="-122"/>
                <a:ea typeface="Xingkai SC" panose="02010600040101010101" pitchFamily="2" charset="-122"/>
              </a:rPr>
              <a:t>宋：理學時代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1FEFC141-0E79-044C-AFFC-B813BEA67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62" y="1511608"/>
            <a:ext cx="3179371" cy="43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09C7B7B1-656B-8D4C-BD38-3B37F4F14CD0}"/>
              </a:ext>
            </a:extLst>
          </p:cNvPr>
          <p:cNvSpPr txBox="1">
            <a:spLocks/>
          </p:cNvSpPr>
          <p:nvPr/>
        </p:nvSpPr>
        <p:spPr>
          <a:xfrm>
            <a:off x="3844390" y="1879270"/>
            <a:ext cx="2580161" cy="6976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太虛無體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1828800" lvl="4" indent="0">
              <a:lnSpc>
                <a:spcPts val="4320"/>
              </a:lnSpc>
              <a:buNone/>
            </a:pP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457200" lvl="1" indent="0">
              <a:buNone/>
            </a:pPr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lvl="1"/>
            <a:endParaRPr kumimoji="1" lang="en-US" altLang="zh-TW" sz="32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1B3DC0E-BE04-B940-8AF9-D8601D44EC91}"/>
              </a:ext>
            </a:extLst>
          </p:cNvPr>
          <p:cNvSpPr txBox="1"/>
          <p:nvPr/>
        </p:nvSpPr>
        <p:spPr>
          <a:xfrm>
            <a:off x="3814823" y="4281056"/>
            <a:ext cx="5219455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0" lvl="4" indent="0">
              <a:lnSpc>
                <a:spcPts val="4320"/>
              </a:lnSpc>
              <a:buNone/>
            </a:pP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天有形質否？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  <a:p>
            <a:pPr marL="0" indent="0">
              <a:lnSpc>
                <a:spcPts val="4320"/>
              </a:lnSpc>
              <a:buNone/>
            </a:pPr>
            <a:r>
              <a:rPr kumimoji="1" lang="en-US" altLang="zh-TW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		</a:t>
            </a:r>
            <a:r>
              <a:rPr kumimoji="1" lang="zh-TW" altLang="en-US" sz="3600" b="1" dirty="0">
                <a:latin typeface="Weibei TC Bold" panose="03000800000000000000" pitchFamily="66" charset="-128"/>
                <a:ea typeface="Weibei TC Bold" panose="03000800000000000000" pitchFamily="66" charset="-128"/>
              </a:rPr>
              <a:t>只是個旋風</a:t>
            </a:r>
            <a:endParaRPr kumimoji="1" lang="en-US" altLang="zh-TW" sz="3600" b="1" dirty="0">
              <a:latin typeface="Weibei TC Bold" panose="03000800000000000000" pitchFamily="66" charset="-128"/>
              <a:ea typeface="Weibei TC Bold" panose="030008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3909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21956</TotalTime>
  <Words>1110</Words>
  <Application>Microsoft Macintosh PowerPoint</Application>
  <PresentationFormat>寬螢幕</PresentationFormat>
  <Paragraphs>163</Paragraphs>
  <Slides>34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3" baseType="lpstr">
      <vt:lpstr>新細明體</vt:lpstr>
      <vt:lpstr>Kaiti TC</vt:lpstr>
      <vt:lpstr>Noto Sans CJK TC</vt:lpstr>
      <vt:lpstr>Weibei TC Bold</vt:lpstr>
      <vt:lpstr>Xingkai SC</vt:lpstr>
      <vt:lpstr>Arial</vt:lpstr>
      <vt:lpstr>Calibri</vt:lpstr>
      <vt:lpstr>Calibri Light</vt:lpstr>
      <vt:lpstr>Office 佈景主題</vt:lpstr>
      <vt:lpstr>淺談古代中國星座</vt:lpstr>
      <vt:lpstr>PowerPoint 簡報</vt:lpstr>
      <vt:lpstr>PowerPoint 簡報</vt:lpstr>
      <vt:lpstr>中國的星空分區</vt:lpstr>
      <vt:lpstr>在開始之前： </vt:lpstr>
      <vt:lpstr>觀象授時</vt:lpstr>
      <vt:lpstr>青龍</vt:lpstr>
      <vt:lpstr>我認為最原始的星座：青龍</vt:lpstr>
      <vt:lpstr>PowerPoint 簡報</vt:lpstr>
      <vt:lpstr>PowerPoint 簡報</vt:lpstr>
      <vt:lpstr>題外話：《易經》</vt:lpstr>
      <vt:lpstr>玄武</vt:lpstr>
      <vt:lpstr>北方玄武—夏越民族</vt:lpstr>
      <vt:lpstr>麒麟</vt:lpstr>
      <vt:lpstr>PowerPoint 簡報</vt:lpstr>
      <vt:lpstr>白虎</vt:lpstr>
      <vt:lpstr>PowerPoint 簡報</vt:lpstr>
      <vt:lpstr>朱雀</vt:lpstr>
      <vt:lpstr>南方朱雀：帝舜後裔、南蠻</vt:lpstr>
      <vt:lpstr>倮獸</vt:lpstr>
      <vt:lpstr>中央倮獸：中土、人</vt:lpstr>
      <vt:lpstr>PowerPoint 簡報</vt:lpstr>
      <vt:lpstr>關於二十八宿幾個問題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淺談古代中國星座</dc:title>
  <dc:creator>誌寬 簡</dc:creator>
  <cp:lastModifiedBy>誌寬 簡</cp:lastModifiedBy>
  <cp:revision>34</cp:revision>
  <dcterms:created xsi:type="dcterms:W3CDTF">2020-04-09T16:09:38Z</dcterms:created>
  <dcterms:modified xsi:type="dcterms:W3CDTF">2026-04-30T19:44:29Z</dcterms:modified>
</cp:coreProperties>
</file>